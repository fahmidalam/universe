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B3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7A00"/>
                </a:solidFill>
                <a:latin typeface="Calibri"/>
              </a:rPr>
              <a:t>FINAL YEAR PROJECT  ·  DEFENSE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A1A1C"/>
                </a:solidFill>
                <a:latin typeface="Calibri Light"/>
              </a:rPr>
              <a:t>UniVerse — A Campus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3373D"/>
                </a:solidFill>
                <a:latin typeface="Calibri"/>
              </a:rPr>
              <a:t>An Automatic Department Timetable Generator (OR-Tools CP-SAT) with Real-Time Campus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520440"/>
            <a:ext cx="777240" cy="4445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Fahmid Alam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0182320012101309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8862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Swadheen Islam Robi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0182320012101278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8862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Shahriar Rashid Ratul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0182320012101276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E7278"/>
                </a:solidFill>
                <a:latin typeface="Calibri"/>
              </a:rPr>
              <a:t>Supervised 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Jaminur Rahman</a:t>
            </a:r>
            <a:r>
              <a:rPr sz="1300" b="0" i="0">
                <a:solidFill>
                  <a:srgbClr val="33373D"/>
                </a:solidFill>
                <a:latin typeface="Calibri"/>
              </a:rPr>
              <a:t>   ·   Lecturer, Department of CSE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44768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 Sherlocked</a:t>
            </a:r>
            <a:r>
              <a:rPr sz="1200" b="0" i="0">
                <a:solidFill>
                  <a:srgbClr val="CFD3DA"/>
                </a:solidFill>
                <a:latin typeface="Calibri"/>
              </a:rPr>
              <a:t>    ·    Course CSE-3240 (Project I)    ·    Department of Computer Science &amp; Engineering    ·    Leading University, Sylhet, 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— A Campus Companion  ·  Team Sherlocked, CSE, Leading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709928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Introduction &amp; Motivation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Problem statement, background, 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7889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Objectives &amp; Goals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What the project sets out to deliver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962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3867911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Literature Review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Related work in automated timetabling &amp; the research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2861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94690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System Design &amp; Algorithm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Architecture and the CP-SAT scheduling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9164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1709928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Methodology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Tools, frameworks, and the generation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7063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7889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Result Analysis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Real-data results, metrics, and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849624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67911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Discussion &amp; Conclusion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Findings, limitations, and future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928616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94690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Live Demo &amp; References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7278"/>
                </a:solidFill>
                <a:latin typeface="Calibri"/>
              </a:rPr>
              <a:t>Functional walkthrough and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TEAM SHERLOCKED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Team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—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0020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611880" cy="109728"/>
          </a:xfrm>
          <a:prstGeom prst="round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Fahmid Alam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0182320012101309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System architecture &amp; shared infrastructure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Authentication (Google OAuth + email)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Admin module &amp; timetable engine (OR-Tools CP-SAT)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Build, deployment &amp;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60020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6552" y="1600200"/>
            <a:ext cx="3611880" cy="109728"/>
          </a:xfrm>
          <a:prstGeom prst="round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9202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Swadheen Islam Robi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0182320012101278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74320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Student &amp; teacher dashboards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Routine and resources hub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Teacher Manage Classes module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Find Teacher &amp; Room Availability (real-time)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600200"/>
            <a:ext cx="3611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1600200"/>
            <a:ext cx="3611880" cy="109728"/>
          </a:xfrm>
          <a:prstGeom prst="round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9202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1A1C"/>
                </a:solidFill>
                <a:latin typeface="Calibri"/>
              </a:rPr>
              <a:t>Shahriar Rashid Ratul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0182320012101276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74320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Notifications &amp; push delivery (FCM)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User profile module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Quality assurance &amp; data seeding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Documentation &amp; demo material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Project Overview &amp;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—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6583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500">
                <a:solidFill>
                  <a:srgbClr val="33373D"/>
                </a:solidFill>
                <a:latin typeface="Calibri"/>
              </a:rPr>
              <a:t>Building a clash-free departmental timetable by hand is slow, error-prone, and must respect dozens of constraints (rooms, labs, teacher day-offs, Friday rules).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500">
                <a:solidFill>
                  <a:srgbClr val="33373D"/>
                </a:solidFill>
                <a:latin typeface="Calibri"/>
              </a:rPr>
              <a:t>Once published, students and teachers still lack a single, live source for today's classes, cancellations, free rooms, and where a teacher currently is.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500">
                <a:solidFill>
                  <a:srgbClr val="33373D"/>
                </a:solidFill>
                <a:latin typeface="Calibri"/>
              </a:rPr>
              <a:t>Existing campus apps are static notice-boards — they do not generate the schedule, nor reflect real-time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Objectives &amp;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6583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500">
                <a:solidFill>
                  <a:srgbClr val="33373D"/>
                </a:solidFill>
                <a:latin typeface="Calibri"/>
              </a:rPr>
              <a:t>Automatically generate a conflict-free department timetable from the course distribution using constraint optimization.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500">
                <a:solidFill>
                  <a:srgbClr val="33373D"/>
                </a:solidFill>
                <a:latin typeface="Calibri"/>
              </a:rPr>
              <a:t>Deliver one role-aware mobile app for students, teachers, and admins.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500">
                <a:solidFill>
                  <a:srgbClr val="33373D"/>
                </a:solidFill>
                <a:latin typeface="Calibri"/>
              </a:rPr>
              <a:t>Provide real-time campus services: live class, cancellations, room availability, find-teacher, and push notifications.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691640"/>
            <a:ext cx="4114800" cy="443484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C4C8C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691640"/>
            <a:ext cx="4114800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E7278"/>
                </a:solidFill>
                <a:latin typeface="Calibri"/>
              </a:rPr>
              <a:t>[ App Overview / Hero Screenshots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6E7278"/>
                </a:solidFill>
                <a:latin typeface="Calibri"/>
              </a:rPr>
              <a:t>Add app mock-ups or a feature collage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— A Campus Companion  ·  Team Sherlocked, CSE, Leading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73D"/>
                </a:solidFill>
                <a:latin typeface="Calibri"/>
              </a:rPr>
              <a:t>Six representative works on automated timetabling and the solver technology behind this project: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38100" cy="8686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148840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A1C"/>
                </a:solidFill>
                <a:latin typeface="Calibri"/>
              </a:rPr>
              <a:t>Schaerf (1999)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373D"/>
                </a:solidFill>
                <a:latin typeface="Calibri"/>
              </a:rPr>
              <a:t>A Survey of Automated Timetabling — formalizes school, course, and exam timetabling as constraint problems.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194560"/>
            <a:ext cx="38100" cy="8686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148840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A1C"/>
                </a:solidFill>
                <a:latin typeface="Calibri"/>
              </a:rPr>
              <a:t>Burke &amp; Petrovic (2002)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373D"/>
                </a:solidFill>
                <a:latin typeface="Calibri"/>
              </a:rPr>
              <a:t>Recent research directions — surveys meta-heuristic and hybrid approaches to educational timetabling.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29000"/>
            <a:ext cx="38100" cy="8686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383280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A1C"/>
                </a:solidFill>
                <a:latin typeface="Calibri"/>
              </a:rPr>
              <a:t>Lewis (2008)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373D"/>
                </a:solidFill>
                <a:latin typeface="Calibri"/>
              </a:rPr>
              <a:t>Survey of metaheuristic techniques for university timetabling; compares construction vs. improvement strategies.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429000"/>
            <a:ext cx="38100" cy="8686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3383280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A1C"/>
                </a:solidFill>
                <a:latin typeface="Calibri"/>
              </a:rPr>
              <a:t>Bettinelli et al. (2015)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373D"/>
                </a:solidFill>
                <a:latin typeface="Calibri"/>
              </a:rPr>
              <a:t>Overview of curriculum-based course timetabling; exact (ILP/CP) formulations and benchmarks.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63440"/>
            <a:ext cx="38100" cy="8686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617720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A1C"/>
                </a:solidFill>
                <a:latin typeface="Calibri"/>
              </a:rPr>
              <a:t>Ceschia, Di Gaspero &amp; Schaerf (2023)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373D"/>
                </a:solidFill>
                <a:latin typeface="Calibri"/>
              </a:rPr>
              <a:t>Educational timetabling: problems, benchmarks, and state-of-the-art results — recent consolidated survey.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663440"/>
            <a:ext cx="38100" cy="86868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617720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A1A1C"/>
                </a:solidFill>
                <a:latin typeface="Calibri"/>
              </a:rPr>
              <a:t>Perron &amp; Furnon — Google OR-Tools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373D"/>
                </a:solidFill>
                <a:latin typeface="Calibri"/>
              </a:rPr>
              <a:t>CP-SAT: a lazy-clause-generation CP/SAT hybrid solver used here for the scheduling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A00"/>
                </a:solidFill>
                <a:latin typeface="Calibri"/>
              </a:rPr>
              <a:t>Research gap: </a:t>
            </a:r>
            <a:r>
              <a:rPr sz="1150" b="0" i="1">
                <a:solidFill>
                  <a:srgbClr val="6E7278"/>
                </a:solidFill>
                <a:latin typeface="Calibri"/>
              </a:rPr>
              <a:t>prior work optimizes the schedule in isolation; this project couples automatic generation with a live, role-aware campus app that reflects cancellations and occupancy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7A00"/>
                </a:solidFill>
                <a:latin typeface="Calibri"/>
              </a:rPr>
              <a:t>PSEUDOCODE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System Design &amp;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— A Campus Companion  ·  Team Sherlocked, CSE, Leading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27632"/>
            <a:ext cx="5074920" cy="45262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C4C8C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5074920" cy="4526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E7278"/>
                </a:solidFill>
                <a:latin typeface="Calibri"/>
              </a:rPr>
              <a:t>[ System Architecture Diagram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6E7278"/>
                </a:solidFill>
                <a:latin typeface="Calibri"/>
              </a:rPr>
              <a:t>Add architecture / DFD here
(app · Supabase · FCM · FastAPI engine)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627632"/>
            <a:ext cx="5623560" cy="4526280"/>
          </a:xfrm>
          <a:prstGeom prst="roundRect">
            <a:avLst/>
          </a:prstGeom>
          <a:solidFill>
            <a:srgbClr val="1E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792224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A64D"/>
                </a:solidFill>
                <a:latin typeface="Consolas"/>
              </a:rPr>
              <a:t>Timetable Solver  (CP-SAT, two phases)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194560"/>
            <a:ext cx="521208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INPUT  : sessions S, days D, periods P, rooms 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OUTPUT : (day, period, room) for every session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A64D"/>
                </a:solidFill>
                <a:latin typeface="Consolas"/>
              </a:rPr>
              <a:t># Phase 1 — assign (day, period)  [CP-SAT]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for s in S: create var x[s] in D x 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HARD constraints: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  • each session scheduled exactly once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  • no teacher / cohort double-booking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  • #parallel sessions &lt;= |rooms| per slot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  • respect teacher day-offs; Friday has no P4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SOFT (minimize weighted cost):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  • two sessions of a course on diff. days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  • compact cohort days; avoid last period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solve(time_limit) -&gt; optimal day,period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A64D"/>
                </a:solidFill>
                <a:latin typeface="Consolas"/>
              </a:rPr>
              <a:t># Phase 2 — assign rooms  [greedy]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for s in S sorted by demand: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  pick free room (lab-&gt;lab, theory-&gt;theory)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8EC"/>
                </a:solidFill>
                <a:latin typeface="Consolas"/>
              </a:rPr>
              <a:t>validate(): no clashes  =&gt;  publish to routines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— A Campus Companion  ·  Team Sherlocked, CSE, Leading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Generation Pipeline (Excel in → routine out)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7A00"/>
                </a:solidFill>
                <a:latin typeface="Calibri Ligh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29968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Ingest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33373D"/>
                </a:solidFill>
                <a:latin typeface="Calibri"/>
              </a:rPr>
              <a:t>Parse the course-distribution .xlsx; detect labs, service courses; validate invariants.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3580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7A00"/>
                </a:solidFill>
                <a:latin typeface="Calibri Ligh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54096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Solve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33373D"/>
                </a:solidFill>
                <a:latin typeface="Calibri"/>
              </a:rPr>
              <a:t>CP-SAT assigns day &amp; period under hard constraints, optimizing soft objectives; greedy room assignment.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59936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7A00"/>
                </a:solidFill>
                <a:latin typeface="Calibri Ligh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78224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Render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33373D"/>
                </a:solidFill>
                <a:latin typeface="Calibri"/>
              </a:rPr>
              <a:t>Write the solution into the official routine workbook (one canonical cohort map across 7 days).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8406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7A00"/>
                </a:solidFill>
                <a:latin typeface="Calibri Ligh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02352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Publish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33373D"/>
                </a:solidFill>
                <a:latin typeface="Calibri"/>
              </a:rPr>
              <a:t>Admin reviews report + validation grid, then publishes rows directly to the live routines 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160020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Tools &amp; 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011680"/>
            <a:ext cx="3931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Flutter / Dart — Android client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Supabase — Postgres, Auth, Storage, Realtime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Firebase Cloud Messaging — push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FastAPI (Python) — engine API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Google OR-Tools CP-SAT — solver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Render — cloud deployment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Architecture: Screen → Controller →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Result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— A Campus Companion  ·  Team Sherlocked, CSE, Leading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2139696" cy="1143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358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139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course offerings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627632"/>
            <a:ext cx="2139696" cy="1143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686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377440"/>
            <a:ext cx="2139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sessions scheduled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1627632"/>
            <a:ext cx="2139696" cy="1143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755648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377440"/>
            <a:ext cx="2139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cohorts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3" y="1627632"/>
            <a:ext cx="2139696" cy="1143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1755648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2377440"/>
            <a:ext cx="2139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teachers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74351" y="1627632"/>
            <a:ext cx="2139696" cy="1143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4351" y="1755648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7A00"/>
                </a:solidFill>
                <a:latin typeface="Calibri Light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1" y="2377440"/>
            <a:ext cx="2139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7278"/>
                </a:solidFill>
                <a:latin typeface="Calibri"/>
              </a:rPr>
              <a:t>clash-free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0632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C"/>
                </a:solidFill>
                <a:latin typeface="Calibri"/>
              </a:rPr>
              <a:t>Key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456432"/>
            <a:ext cx="50749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Real Summer-2025 distribution solved to a fully clash-free schedule (validation.ok = true).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No teacher, cohort, or room is ever double-booked; all day-off and Friday rules respected.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End-to-end generation completes within the solver time limit on the free cloud tier.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Manual scheduling (days of effort) reduced to a one-click, verifiable run.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063240"/>
            <a:ext cx="5532120" cy="306324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C4C8C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063240"/>
            <a:ext cx="5532120" cy="3063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E7278"/>
                </a:solidFill>
                <a:latin typeface="Calibri"/>
              </a:rPr>
              <a:t>[ Results Table / Validation Grid / Screenshots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6E7278"/>
                </a:solidFill>
                <a:latin typeface="Calibri"/>
              </a:rPr>
              <a:t>Add the generated routine grid or metrics chart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Discussion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— A Campus Companion  ·  Team Sherlocked, CSE, Leading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3611880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520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 constraint-optimization engine produces a clash-free department timetable from real data.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Coupling generation with a live app gives one source of truth for classes, rooms, and changes.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Push + Realtime keep students and teachers instantly in sync.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1627632"/>
            <a:ext cx="3611880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78308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286000"/>
            <a:ext cx="3520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Free cloud tier sleeps — first request has a cold-start delay.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Scoped to one department's distribution format.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AI assistant (RAG) intentionally descoped for this defense.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627632"/>
            <a:ext cx="3611880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178308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C"/>
                </a:solidFill>
                <a:latin typeface="Calibri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286000"/>
            <a:ext cx="3520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Restore the AI campus assistant (RAG over documents).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Multi-department &amp; cross-faculty scheduling.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iOS build and student-side cancellation grid.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FF7A00"/>
                </a:solidFill>
                <a:latin typeface="Calibri"/>
              </a:rPr>
              <a:t>●  </a:t>
            </a:r>
            <a:r>
              <a:rPr sz="1250">
                <a:solidFill>
                  <a:srgbClr val="33373D"/>
                </a:solidFill>
                <a:latin typeface="Calibri"/>
              </a:rPr>
              <a:t>Solver tuning with student preference learning.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— A Campus Companion  ·  Team Sherlocked, CSE, Leading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83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73D"/>
                </a:solidFill>
                <a:latin typeface="Calibri"/>
              </a:rPr>
              <a:t>A. Schaerf, "A survey of automated timetabling," Artificial Intelligence Review, vol. 13, no. 2, pp. 87–127, 1999.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32888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3288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73D"/>
                </a:solidFill>
                <a:latin typeface="Calibri"/>
              </a:rPr>
              <a:t>E. K. Burke and S. Petrovic, "Recent research directions in automated timetabling," European Journal of Operational Research, vol. 140, no. 2, pp. 266–280, 2002.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82696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82696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73D"/>
                </a:solidFill>
                <a:latin typeface="Calibri"/>
              </a:rPr>
              <a:t>R. Lewis, "A survey of metaheuristic-based techniques for university timetabling problems," OR Spectrum, vol. 30, no. 1, pp. 167–190, 2008.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32504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32504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73D"/>
                </a:solidFill>
                <a:latin typeface="Calibri"/>
              </a:rPr>
              <a:t>A. Bettinelli, V. Cacchiani, R. Roberti, and P. Toth, "An overview of curriculum-based course timetabling," TOP, vol. 23, no. 2, pp. 313–349, 2015.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82312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[5]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782312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73D"/>
                </a:solidFill>
                <a:latin typeface="Calibri"/>
              </a:rPr>
              <a:t>S. Ceschia, L. Di Gaspero, and A. Schaerf, "Educational timetabling: Problems, benchmarks, and state-of-the-art results," European Journal of Operational Research, vol. 308, no. 1, pp. 1–18, 2023.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[6]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321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373D"/>
                </a:solidFill>
                <a:latin typeface="Calibri"/>
              </a:rPr>
              <a:t>L. Perron and F. Furnon, "OR-Tools CP-SAT solver," Google, 2023. [Online]. Available: https://developers.google.com/optimization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E7278"/>
                </a:solidFill>
                <a:latin typeface="Calibri"/>
              </a:rPr>
              <a:t>Note: verify and update citations to match your final report before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C"/>
                </a:solidFill>
                <a:latin typeface="Calibri Light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566928" cy="4064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278"/>
                </a:solidFill>
                <a:latin typeface="Calibri"/>
              </a:rPr>
              <a:t>UniVerse — A Campus Companion  ·  Team Sherlocked, CSE, Leading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7278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C4C8CE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908792" cy="443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E7278"/>
                </a:solidFill>
                <a:latin typeface="Calibri"/>
              </a:rPr>
              <a:t>[ Functional Demo / Screen Recording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6E7278"/>
                </a:solidFill>
                <a:latin typeface="Calibri"/>
              </a:rPr>
              <a:t>Embed the app walk-through video or live device mirror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